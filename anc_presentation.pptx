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73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7884"/>
                </a:solidFill>
                <a:latin typeface="Arial"/>
              </a:defRPr>
            </a:pPr>
            <a:r>
              <a:rPr dirty="0" err="1"/>
              <a:t>이산</a:t>
            </a:r>
            <a:r>
              <a:rPr dirty="0"/>
              <a:t> </a:t>
            </a:r>
            <a:r>
              <a:rPr dirty="0" err="1"/>
              <a:t>푸리에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>(FFT)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r>
              <a:rPr dirty="0" err="1"/>
              <a:t>주파수</a:t>
            </a:r>
            <a:r>
              <a:rPr dirty="0"/>
              <a:t> </a:t>
            </a:r>
            <a:r>
              <a:rPr dirty="0" err="1"/>
              <a:t>도메인</a:t>
            </a:r>
            <a:endParaRPr dirty="0"/>
          </a:p>
          <a:p>
            <a:pPr algn="l">
              <a:spcBef>
                <a:spcPts val="12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대역</a:t>
            </a:r>
            <a:r>
              <a:rPr dirty="0"/>
              <a:t> </a:t>
            </a:r>
            <a:r>
              <a:rPr dirty="0" err="1"/>
              <a:t>제한형</a:t>
            </a:r>
            <a:r>
              <a:rPr dirty="0"/>
              <a:t> </a:t>
            </a:r>
            <a:r>
              <a:rPr dirty="0" err="1"/>
              <a:t>능동</a:t>
            </a:r>
            <a:r>
              <a:rPr dirty="0"/>
              <a:t> </a:t>
            </a:r>
            <a:r>
              <a:rPr dirty="0" err="1"/>
              <a:t>소음</a:t>
            </a:r>
            <a:r>
              <a:rPr dirty="0"/>
              <a:t> </a:t>
            </a:r>
            <a:r>
              <a:rPr dirty="0" err="1"/>
              <a:t>제어</a:t>
            </a:r>
            <a:r>
              <a:rPr dirty="0"/>
              <a:t>(ANC) </a:t>
            </a:r>
            <a:r>
              <a:rPr dirty="0" err="1"/>
              <a:t>시스템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실험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Arial"/>
              </a:defRPr>
            </a:pPr>
            <a:r>
              <a:rPr dirty="0"/>
              <a:t>■ </a:t>
            </a:r>
            <a:r>
              <a:rPr dirty="0" err="1"/>
              <a:t>융합</a:t>
            </a:r>
            <a:r>
              <a:rPr dirty="0"/>
              <a:t> </a:t>
            </a:r>
            <a:r>
              <a:rPr dirty="0" err="1"/>
              <a:t>교과</a:t>
            </a:r>
            <a:r>
              <a:rPr dirty="0"/>
              <a:t> </a:t>
            </a:r>
            <a:r>
              <a:rPr dirty="0" err="1"/>
              <a:t>심화</a:t>
            </a:r>
            <a:r>
              <a:rPr dirty="0"/>
              <a:t> </a:t>
            </a:r>
            <a:r>
              <a:rPr dirty="0" err="1"/>
              <a:t>탐구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: </a:t>
            </a:r>
            <a:r>
              <a:rPr dirty="0" err="1"/>
              <a:t>물리학</a:t>
            </a:r>
            <a:r>
              <a:rPr dirty="0"/>
              <a:t> II (</a:t>
            </a:r>
            <a:r>
              <a:rPr dirty="0" err="1"/>
              <a:t>파동과</a:t>
            </a:r>
            <a:r>
              <a:rPr dirty="0"/>
              <a:t> </a:t>
            </a:r>
            <a:r>
              <a:rPr dirty="0" err="1"/>
              <a:t>간섭</a:t>
            </a:r>
            <a:r>
              <a:rPr dirty="0"/>
              <a:t>) · </a:t>
            </a:r>
            <a:r>
              <a:rPr dirty="0" err="1"/>
              <a:t>미적분</a:t>
            </a:r>
            <a:r>
              <a:rPr dirty="0"/>
              <a:t> (</a:t>
            </a:r>
            <a:r>
              <a:rPr dirty="0" err="1"/>
              <a:t>삼각함수</a:t>
            </a:r>
            <a:r>
              <a:rPr dirty="0"/>
              <a:t>) · </a:t>
            </a:r>
            <a:r>
              <a:rPr dirty="0" err="1"/>
              <a:t>정보</a:t>
            </a:r>
            <a:r>
              <a:rPr dirty="0"/>
              <a:t> (</a:t>
            </a:r>
            <a:r>
              <a:rPr dirty="0" err="1"/>
              <a:t>디지털</a:t>
            </a:r>
            <a:r>
              <a:rPr dirty="0"/>
              <a:t> </a:t>
            </a:r>
            <a:r>
              <a:rPr dirty="0" err="1"/>
              <a:t>신호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)</a:t>
            </a:r>
          </a:p>
          <a:p>
            <a:pPr>
              <a:spcBef>
                <a:spcPts val="2400"/>
              </a:spcBef>
              <a:defRPr sz="1800" b="1">
                <a:solidFill>
                  <a:srgbClr val="FE4447"/>
                </a:solidFill>
                <a:latin typeface="Arial"/>
              </a:defRPr>
            </a:pPr>
            <a:r>
              <a:rPr dirty="0" err="1"/>
              <a:t>발표자</a:t>
            </a:r>
            <a:r>
              <a:rPr dirty="0"/>
              <a:t> : </a:t>
            </a:r>
            <a:r>
              <a:rPr lang="ko-KR" altLang="en-US" dirty="0" err="1"/>
              <a:t>원묵</a:t>
            </a:r>
            <a:r>
              <a:rPr lang="ko-KR" altLang="en-US" dirty="0"/>
              <a:t> </a:t>
            </a:r>
            <a:r>
              <a:rPr dirty="0" err="1"/>
              <a:t>고등학교</a:t>
            </a:r>
            <a:r>
              <a:rPr dirty="0"/>
              <a:t> 2학년 </a:t>
            </a:r>
            <a:r>
              <a:rPr lang="ko-KR" altLang="en-US" dirty="0" err="1"/>
              <a:t>전승민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물리II</a:t>
            </a:r>
            <a:br/>
            <a:r>
              <a:t>융합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1. 탐구 동기 및 연구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rPr dirty="0"/>
              <a:t>● </a:t>
            </a:r>
            <a:r>
              <a:rPr lang="ko-KR" altLang="en-US" dirty="0"/>
              <a:t>탐구 이유</a:t>
            </a:r>
            <a:endParaRPr lang="en-US" altLang="ko-KR" dirty="0"/>
          </a:p>
          <a:p>
            <a:pPr>
              <a:defRPr sz="2000" b="1">
                <a:solidFill>
                  <a:srgbClr val="277884"/>
                </a:solidFill>
              </a:defRPr>
            </a:pPr>
            <a:endParaRPr dirty="0"/>
          </a:p>
          <a:p>
            <a:pPr>
              <a:spcAft>
                <a:spcPts val="2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  </a:t>
            </a:r>
            <a:r>
              <a:rPr lang="ko-KR" altLang="ko-KR" sz="1600" dirty="0">
                <a:solidFill>
                  <a:srgbClr val="1E293B"/>
                </a:solidFill>
              </a:rPr>
              <a:t>평소 노이즈 </a:t>
            </a:r>
            <a:r>
              <a:rPr lang="ko-KR" altLang="ko-KR" sz="1600" dirty="0" err="1">
                <a:solidFill>
                  <a:srgbClr val="1E293B"/>
                </a:solidFill>
              </a:rPr>
              <a:t>캔슬링</a:t>
            </a:r>
            <a:r>
              <a:rPr lang="ko-KR" altLang="ko-KR" sz="1600" dirty="0">
                <a:solidFill>
                  <a:srgbClr val="1E293B"/>
                </a:solidFill>
              </a:rPr>
              <a:t> 이어폰과 헤드폰을 자주 사용하며 그 작동 원리에 호기심이 생겼습니다. 관련 자료를 조사하던 중, 소음을 상쇄하는 핵심 원리가 '푸리에 </a:t>
            </a:r>
            <a:r>
              <a:rPr lang="ko-KR" altLang="ko-KR" sz="1600" dirty="0" err="1">
                <a:solidFill>
                  <a:srgbClr val="1E293B"/>
                </a:solidFill>
              </a:rPr>
              <a:t>변환'을</a:t>
            </a:r>
            <a:r>
              <a:rPr lang="ko-KR" altLang="ko-KR" sz="1600" dirty="0">
                <a:solidFill>
                  <a:srgbClr val="1E293B"/>
                </a:solidFill>
              </a:rPr>
              <a:t> 통해 소음의 정반대 주파수(소리 파동)</a:t>
            </a:r>
            <a:r>
              <a:rPr lang="ko-KR" altLang="ko-KR" sz="1600" dirty="0" err="1">
                <a:solidFill>
                  <a:srgbClr val="1E293B"/>
                </a:solidFill>
              </a:rPr>
              <a:t>를</a:t>
            </a:r>
            <a:r>
              <a:rPr lang="ko-KR" altLang="ko-KR" sz="1600" dirty="0">
                <a:solidFill>
                  <a:srgbClr val="1E293B"/>
                </a:solidFill>
              </a:rPr>
              <a:t> 생성하는 것임을 알게 되었습니다. 교과 과정에서 배운 </a:t>
            </a:r>
            <a:r>
              <a:rPr lang="ko-KR" altLang="ko-KR" sz="1600" dirty="0" err="1">
                <a:solidFill>
                  <a:srgbClr val="1E293B"/>
                </a:solidFill>
              </a:rPr>
              <a:t>수학적·과학적</a:t>
            </a:r>
            <a:r>
              <a:rPr lang="ko-KR" altLang="ko-KR" sz="1600" dirty="0">
                <a:solidFill>
                  <a:srgbClr val="1E293B"/>
                </a:solidFill>
              </a:rPr>
              <a:t> 개념이 일상 속 기술에 어떻게 적용되는지 흥미를 느끼게 되었고, 이를 컴퓨터 프로그래밍을 통해 직접 구현하고 검증해보고 싶어 탐구를 시작하게 되었습니다.</a:t>
            </a:r>
            <a:endParaRPr lang="en-US" altLang="ko-KR" sz="1600" dirty="0">
              <a:solidFill>
                <a:srgbClr val="1E293B"/>
              </a:solidFill>
            </a:endParaRPr>
          </a:p>
          <a:p>
            <a:pPr>
              <a:spcAft>
                <a:spcPts val="2400"/>
              </a:spcAft>
              <a:defRPr sz="1600">
                <a:solidFill>
                  <a:srgbClr val="1E293B"/>
                </a:solidFill>
              </a:defRPr>
            </a:pPr>
            <a:r>
              <a:rPr lang="ko-KR" altLang="ko-KR" sz="1600" dirty="0"/>
              <a:t> </a:t>
            </a:r>
            <a:r>
              <a:rPr sz="2000" b="1" dirty="0">
                <a:solidFill>
                  <a:srgbClr val="277884"/>
                </a:solidFill>
              </a:rPr>
              <a:t>● </a:t>
            </a:r>
            <a:r>
              <a:rPr sz="2000" b="1" dirty="0" err="1">
                <a:solidFill>
                  <a:srgbClr val="277884"/>
                </a:solidFill>
              </a:rPr>
              <a:t>탐구</a:t>
            </a:r>
            <a:r>
              <a:rPr sz="2000" b="1" dirty="0">
                <a:solidFill>
                  <a:srgbClr val="277884"/>
                </a:solidFill>
              </a:rPr>
              <a:t> </a:t>
            </a:r>
            <a:r>
              <a:rPr sz="2000" b="1" dirty="0" err="1">
                <a:solidFill>
                  <a:srgbClr val="277884"/>
                </a:solidFill>
              </a:rPr>
              <a:t>목표</a:t>
            </a:r>
            <a:endParaRPr lang="ko-KR" altLang="en-US" sz="1600" dirty="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1E293B"/>
                </a:solidFill>
              </a:rPr>
              <a:t>주파수 제어 원리 이해</a:t>
            </a:r>
            <a:r>
              <a:rPr lang="en-US" altLang="ko-KR" sz="1600" dirty="0">
                <a:solidFill>
                  <a:srgbClr val="1E293B"/>
                </a:solidFill>
              </a:rPr>
              <a:t>: </a:t>
            </a:r>
            <a:r>
              <a:rPr lang="ko-KR" altLang="en-US" sz="1600" dirty="0">
                <a:solidFill>
                  <a:srgbClr val="1E293B"/>
                </a:solidFill>
              </a:rPr>
              <a:t>푸리에 변환을 활용하여 주변 소음 중 원하는 특정 소음 유무를 파악하고</a:t>
            </a:r>
            <a:r>
              <a:rPr lang="en-US" altLang="ko-KR" sz="1600" dirty="0">
                <a:solidFill>
                  <a:srgbClr val="1E293B"/>
                </a:solidFill>
              </a:rPr>
              <a:t>, </a:t>
            </a:r>
            <a:r>
              <a:rPr lang="ko-KR" altLang="en-US" sz="1600" dirty="0">
                <a:solidFill>
                  <a:srgbClr val="1E293B"/>
                </a:solidFill>
              </a:rPr>
              <a:t>이를 상쇄하는 반대 파동의 생성 메커니즘을 이해한다</a:t>
            </a:r>
            <a:r>
              <a:rPr lang="en-US" altLang="ko-KR" sz="1600" dirty="0">
                <a:solidFill>
                  <a:srgbClr val="1E293B"/>
                </a:solidFill>
              </a:rPr>
              <a:t>.</a:t>
            </a:r>
            <a:br>
              <a:rPr lang="en-US" altLang="ko-KR" sz="1600" dirty="0">
                <a:solidFill>
                  <a:srgbClr val="1E293B"/>
                </a:solidFill>
              </a:rPr>
            </a:br>
            <a:endParaRPr lang="ko-KR" altLang="en-US" sz="1600" dirty="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>
                <a:solidFill>
                  <a:srgbClr val="1E293B"/>
                </a:solidFill>
              </a:rPr>
              <a:t>파이썬 시뮬레이터 구현</a:t>
            </a:r>
            <a:r>
              <a:rPr lang="ko-KR" altLang="ko-KR" sz="1600" dirty="0">
                <a:solidFill>
                  <a:srgbClr val="1E293B"/>
                </a:solidFill>
              </a:rPr>
              <a:t>: 프로그래밍 언어(</a:t>
            </a:r>
            <a:r>
              <a:rPr lang="ko-KR" altLang="ko-KR" sz="1600" dirty="0" err="1">
                <a:solidFill>
                  <a:srgbClr val="1E293B"/>
                </a:solidFill>
              </a:rPr>
              <a:t>Python</a:t>
            </a:r>
            <a:r>
              <a:rPr lang="ko-KR" altLang="ko-KR" sz="1600" dirty="0">
                <a:solidFill>
                  <a:srgbClr val="1E293B"/>
                </a:solidFill>
              </a:rPr>
              <a:t>)</a:t>
            </a:r>
            <a:r>
              <a:rPr lang="ko-KR" altLang="ko-KR" sz="1600" dirty="0" err="1">
                <a:solidFill>
                  <a:srgbClr val="1E293B"/>
                </a:solidFill>
              </a:rPr>
              <a:t>를</a:t>
            </a:r>
            <a:r>
              <a:rPr lang="ko-KR" altLang="ko-KR" sz="1600" dirty="0">
                <a:solidFill>
                  <a:srgbClr val="1E293B"/>
                </a:solidFill>
              </a:rPr>
              <a:t> 활용하여 실제 소음 데이터를 변환하고 상쇄 시키는 과정을 눈으로 확인할 수 있는 가상의 노이즈 </a:t>
            </a:r>
            <a:r>
              <a:rPr lang="ko-KR" altLang="ko-KR" sz="1600" dirty="0" err="1">
                <a:solidFill>
                  <a:srgbClr val="1E293B"/>
                </a:solidFill>
              </a:rPr>
              <a:t>캔슬링</a:t>
            </a:r>
            <a:r>
              <a:rPr lang="ko-KR" altLang="ko-KR" sz="1600" dirty="0">
                <a:solidFill>
                  <a:srgbClr val="1E293B"/>
                </a:solidFill>
              </a:rPr>
              <a:t> 소프트웨어를 직접 제작한다.</a:t>
            </a:r>
            <a:br>
              <a:rPr lang="en-US" altLang="ko-KR" sz="1600" dirty="0">
                <a:solidFill>
                  <a:srgbClr val="1E293B"/>
                </a:solidFill>
              </a:rPr>
            </a:br>
            <a:endParaRPr lang="ko-KR" altLang="ko-KR" sz="1600" dirty="0">
              <a:solidFill>
                <a:srgbClr val="1E293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600" b="1" dirty="0">
                <a:solidFill>
                  <a:srgbClr val="1E293B"/>
                </a:solidFill>
              </a:rPr>
              <a:t>소음 감쇄 조건 분석</a:t>
            </a:r>
            <a:r>
              <a:rPr lang="ko-KR" altLang="ko-KR" sz="1600" dirty="0">
                <a:solidFill>
                  <a:srgbClr val="1E293B"/>
                </a:solidFill>
              </a:rPr>
              <a:t>: 차단하고자 하는 소음의 주파수 범위(낮은 음, 높은 음)와 소리의 크기(게인) 설정을 변화시키며, 어떤 조건에서 소음이 가장 효과적으로 줄어드는지 정량적으로 </a:t>
            </a:r>
            <a:r>
              <a:rPr lang="ko-KR" altLang="ko-KR" sz="1600" dirty="0" err="1">
                <a:solidFill>
                  <a:srgbClr val="1E293B"/>
                </a:solidFill>
              </a:rPr>
              <a:t>비교·관찰한다</a:t>
            </a:r>
            <a:r>
              <a:rPr lang="ko-KR" altLang="ko-KR" sz="1600" dirty="0">
                <a:solidFill>
                  <a:srgbClr val="1E293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물리II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2. 이론적 배경 (1) - 파동의 중첩과 간섭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rPr dirty="0"/>
              <a:t>● </a:t>
            </a:r>
            <a:r>
              <a:rPr dirty="0" err="1"/>
              <a:t>소리의</a:t>
            </a:r>
            <a:r>
              <a:rPr dirty="0"/>
              <a:t> </a:t>
            </a:r>
            <a:r>
              <a:rPr dirty="0" err="1"/>
              <a:t>파동성과</a:t>
            </a:r>
            <a:r>
              <a:rPr dirty="0"/>
              <a:t> </a:t>
            </a:r>
            <a:r>
              <a:rPr dirty="0" err="1"/>
              <a:t>상쇄</a:t>
            </a:r>
            <a:r>
              <a:rPr dirty="0"/>
              <a:t> </a:t>
            </a:r>
            <a:r>
              <a:rPr dirty="0" err="1"/>
              <a:t>간섭</a:t>
            </a:r>
            <a:endParaRPr dirty="0"/>
          </a:p>
          <a:p>
            <a:pPr>
              <a:spcAft>
                <a:spcPts val="2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   - </a:t>
            </a:r>
            <a:r>
              <a:rPr dirty="0" err="1"/>
              <a:t>소리는</a:t>
            </a:r>
            <a:r>
              <a:rPr dirty="0"/>
              <a:t> </a:t>
            </a:r>
            <a:r>
              <a:rPr dirty="0" err="1"/>
              <a:t>공기의</a:t>
            </a:r>
            <a:r>
              <a:rPr dirty="0"/>
              <a:t> </a:t>
            </a:r>
            <a:r>
              <a:rPr dirty="0" err="1"/>
              <a:t>소밀</a:t>
            </a:r>
            <a:r>
              <a:rPr dirty="0"/>
              <a:t>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변화로</a:t>
            </a:r>
            <a:r>
              <a:rPr dirty="0"/>
              <a:t> </a:t>
            </a:r>
            <a:r>
              <a:rPr dirty="0" err="1"/>
              <a:t>진행하는</a:t>
            </a:r>
            <a:r>
              <a:rPr dirty="0"/>
              <a:t> </a:t>
            </a:r>
            <a:r>
              <a:rPr dirty="0" err="1"/>
              <a:t>종파이며</a:t>
            </a:r>
            <a:r>
              <a:rPr dirty="0"/>
              <a:t>, </a:t>
            </a: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겹치면</a:t>
            </a:r>
            <a:r>
              <a:rPr dirty="0"/>
              <a:t> </a:t>
            </a:r>
            <a:r>
              <a:rPr dirty="0" err="1"/>
              <a:t>매질의</a:t>
            </a:r>
            <a:r>
              <a:rPr dirty="0"/>
              <a:t> </a:t>
            </a:r>
            <a:r>
              <a:rPr dirty="0" err="1"/>
              <a:t>변위는</a:t>
            </a:r>
            <a:r>
              <a:rPr dirty="0"/>
              <a:t> </a:t>
            </a:r>
            <a:r>
              <a:rPr dirty="0" err="1"/>
              <a:t>각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변위</a:t>
            </a:r>
            <a:r>
              <a:rPr dirty="0"/>
              <a:t> </a:t>
            </a:r>
            <a:r>
              <a:rPr dirty="0" err="1"/>
              <a:t>합과</a:t>
            </a:r>
            <a:r>
              <a:rPr dirty="0"/>
              <a:t> </a:t>
            </a:r>
            <a:r>
              <a:rPr dirty="0" err="1"/>
              <a:t>같아지는</a:t>
            </a:r>
            <a:r>
              <a:rPr dirty="0"/>
              <a:t> '</a:t>
            </a:r>
            <a:r>
              <a:rPr dirty="0" err="1"/>
              <a:t>중첩의</a:t>
            </a:r>
            <a:r>
              <a:rPr dirty="0"/>
              <a:t> </a:t>
            </a:r>
            <a:r>
              <a:rPr dirty="0" err="1"/>
              <a:t>원리'를</a:t>
            </a:r>
            <a:r>
              <a:rPr dirty="0"/>
              <a:t> </a:t>
            </a:r>
            <a:r>
              <a:rPr dirty="0" err="1"/>
              <a:t>따름</a:t>
            </a:r>
            <a:r>
              <a:rPr dirty="0"/>
              <a:t>.</a:t>
            </a:r>
            <a:br>
              <a:rPr dirty="0"/>
            </a:br>
            <a:r>
              <a:rPr dirty="0"/>
              <a:t>   - </a:t>
            </a: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위상차가</a:t>
            </a:r>
            <a:r>
              <a:rPr dirty="0"/>
              <a:t> 180도(π rad)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이룰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변위의</a:t>
            </a:r>
            <a:r>
              <a:rPr dirty="0"/>
              <a:t> </a:t>
            </a:r>
            <a:r>
              <a:rPr dirty="0" err="1"/>
              <a:t>상쇄를</a:t>
            </a:r>
            <a:r>
              <a:rPr dirty="0"/>
              <a:t> </a:t>
            </a:r>
            <a:r>
              <a:rPr dirty="0" err="1"/>
              <a:t>통해</a:t>
            </a:r>
            <a:r>
              <a:rPr dirty="0"/>
              <a:t> </a:t>
            </a:r>
            <a:r>
              <a:rPr dirty="0" err="1"/>
              <a:t>에너지가</a:t>
            </a:r>
            <a:r>
              <a:rPr dirty="0"/>
              <a:t> </a:t>
            </a:r>
            <a:r>
              <a:rPr dirty="0" err="1"/>
              <a:t>소멸하는</a:t>
            </a:r>
            <a:r>
              <a:rPr dirty="0"/>
              <a:t> '</a:t>
            </a:r>
            <a:r>
              <a:rPr dirty="0" err="1"/>
              <a:t>상쇄</a:t>
            </a:r>
            <a:r>
              <a:rPr dirty="0"/>
              <a:t> </a:t>
            </a:r>
            <a:r>
              <a:rPr dirty="0" err="1"/>
              <a:t>간섭</a:t>
            </a:r>
            <a:r>
              <a:rPr dirty="0"/>
              <a:t>' </a:t>
            </a:r>
            <a:r>
              <a:rPr dirty="0" err="1"/>
              <a:t>발생</a:t>
            </a:r>
            <a:r>
              <a:rPr dirty="0"/>
              <a:t>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rPr dirty="0"/>
              <a:t>● </a:t>
            </a:r>
            <a:r>
              <a:rPr dirty="0" err="1"/>
              <a:t>소음</a:t>
            </a:r>
            <a:r>
              <a:rPr dirty="0"/>
              <a:t> </a:t>
            </a:r>
            <a:r>
              <a:rPr dirty="0" err="1"/>
              <a:t>상쇄의</a:t>
            </a:r>
            <a:r>
              <a:rPr dirty="0"/>
              <a:t> </a:t>
            </a:r>
            <a:r>
              <a:rPr dirty="0" err="1"/>
              <a:t>수학적</a:t>
            </a:r>
            <a:r>
              <a:rPr dirty="0"/>
              <a:t> </a:t>
            </a:r>
            <a:r>
              <a:rPr dirty="0" err="1"/>
              <a:t>모델링</a:t>
            </a:r>
            <a:endParaRPr dirty="0"/>
          </a:p>
          <a:p>
            <a:pPr>
              <a:defRPr sz="1600">
                <a:solidFill>
                  <a:srgbClr val="1E293B"/>
                </a:solidFill>
              </a:defRPr>
            </a:pPr>
            <a:r>
              <a:rPr dirty="0"/>
              <a:t>   - </a:t>
            </a:r>
            <a:r>
              <a:rPr dirty="0" err="1"/>
              <a:t>주기적인</a:t>
            </a:r>
            <a:r>
              <a:rPr dirty="0"/>
              <a:t> </a:t>
            </a:r>
            <a:r>
              <a:rPr dirty="0" err="1"/>
              <a:t>소음</a:t>
            </a:r>
            <a:r>
              <a:rPr dirty="0"/>
              <a:t> </a:t>
            </a:r>
            <a:r>
              <a:rPr dirty="0" err="1"/>
              <a:t>성분</a:t>
            </a:r>
            <a:r>
              <a:rPr dirty="0"/>
              <a:t>:   x(t) = A * sin(w*t + phi)</a:t>
            </a:r>
            <a:br>
              <a:rPr dirty="0"/>
            </a:br>
            <a:r>
              <a:rPr dirty="0"/>
              <a:t>   - 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반대파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:       y(t) = -g * A * sin(w*t + phi)    (g: </a:t>
            </a:r>
            <a:r>
              <a:rPr dirty="0" err="1"/>
              <a:t>안티</a:t>
            </a:r>
            <a:r>
              <a:rPr dirty="0"/>
              <a:t> </a:t>
            </a:r>
            <a:r>
              <a:rPr dirty="0" err="1"/>
              <a:t>노이즈</a:t>
            </a:r>
            <a:r>
              <a:rPr dirty="0"/>
              <a:t> </a:t>
            </a:r>
            <a:r>
              <a:rPr dirty="0" err="1"/>
              <a:t>게인</a:t>
            </a:r>
            <a:r>
              <a:rPr dirty="0"/>
              <a:t>)</a:t>
            </a:r>
            <a:br>
              <a:rPr dirty="0"/>
            </a:br>
            <a:r>
              <a:rPr dirty="0"/>
              <a:t>   -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잔여</a:t>
            </a:r>
            <a:r>
              <a:rPr dirty="0"/>
              <a:t> </a:t>
            </a:r>
            <a:r>
              <a:rPr dirty="0" err="1"/>
              <a:t>신호</a:t>
            </a:r>
            <a:r>
              <a:rPr dirty="0"/>
              <a:t>(Residual):  x(t) + y(t) = (1 - g) * A * sin(w*t + phi)</a:t>
            </a:r>
            <a:br>
              <a:rPr dirty="0"/>
            </a:br>
            <a:r>
              <a:rPr dirty="0"/>
              <a:t>   - </a:t>
            </a:r>
            <a:r>
              <a:rPr dirty="0" err="1"/>
              <a:t>게인</a:t>
            </a:r>
            <a:r>
              <a:rPr dirty="0"/>
              <a:t> </a:t>
            </a:r>
            <a:r>
              <a:rPr dirty="0" err="1"/>
              <a:t>제어</a:t>
            </a:r>
            <a:r>
              <a:rPr dirty="0"/>
              <a:t> g -&gt; 1에 </a:t>
            </a:r>
            <a:r>
              <a:rPr dirty="0" err="1"/>
              <a:t>가까워질수록</a:t>
            </a:r>
            <a:r>
              <a:rPr dirty="0"/>
              <a:t> </a:t>
            </a:r>
            <a:r>
              <a:rPr dirty="0" err="1"/>
              <a:t>합성</a:t>
            </a:r>
            <a:r>
              <a:rPr dirty="0"/>
              <a:t> </a:t>
            </a:r>
            <a:r>
              <a:rPr dirty="0" err="1"/>
              <a:t>진폭은</a:t>
            </a:r>
            <a:r>
              <a:rPr dirty="0"/>
              <a:t> 0에 </a:t>
            </a:r>
            <a:r>
              <a:rPr dirty="0" err="1"/>
              <a:t>수렴하여</a:t>
            </a:r>
            <a:r>
              <a:rPr dirty="0"/>
              <a:t> </a:t>
            </a:r>
            <a:r>
              <a:rPr dirty="0" err="1"/>
              <a:t>완전한</a:t>
            </a:r>
            <a:r>
              <a:rPr dirty="0"/>
              <a:t> </a:t>
            </a:r>
            <a:r>
              <a:rPr dirty="0" err="1"/>
              <a:t>소음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 </a:t>
            </a:r>
            <a:r>
              <a:rPr dirty="0" err="1"/>
              <a:t>달성</a:t>
            </a:r>
            <a:r>
              <a:rPr dirty="0"/>
              <a:t> </a:t>
            </a:r>
            <a:r>
              <a:rPr dirty="0" err="1"/>
              <a:t>가능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미적분</a:t>
            </a:r>
            <a:br/>
            <a:r>
              <a:t>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3. 이론적 배경 (2) - 푸리에 변환과 주파수 도메인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● 시간 영역에서 주파수 영역으로의 변환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자연의 실제 소음은 불규칙한 삼각함수들이 복합적으로 섞인 비주기 신호.</a:t>
            </a:r>
            <a:br/>
            <a:r>
              <a:t>   - 이를 주파수 성분(크기와 위상)으로 분해하기 위해 '이산 푸리에 변환(DFT)' 수학 기법을 도입.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이산 푸리에 변환(DFT) 및 고속 푸리에 변환(FFT)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DFT 공식:   X(k) = Σ [x(n) * e^(-i * 2π * k * n / N)]   (오일러 공식을 통한 지수 함수 분해)</a:t>
            </a:r>
            <a:br/>
            <a:r>
              <a:t>   - 실시간 처리를 위해 연산 단계를 복잡도 O(N^2)에서 O(N log N)으로 단축시키는 FFT 알고리즘 사용.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Hann Windowing(창 함수)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   - 프레임 한계에서 생기는 잘림 노이즈(Spectral Leakage) 차단을 위해 윈도우 마스크 적용.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4. 실시간 ANC 시스템 아키텍처 및 닫힌 루프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● 신호 제어 프로세스 아키텍처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1. [입력 단계] 마이크 장치(48,000Hz)로부터 오디오 신호 버퍼 프레임(1024 샘플) 수집.</a:t>
            </a:r>
            <a:br/>
            <a:r>
              <a:t>   2. [전처리 단계] 잘린 프레임 경계 오차 완화를 위한 Hann Window 함수 적용.</a:t>
            </a:r>
            <a:br/>
            <a:r>
              <a:t>   3. [분석 단계] 고속 푸리에 변환(FFT)을 수행하여 복소 주파수 스펙트럼 획득.</a:t>
            </a:r>
            <a:br/>
            <a:r>
              <a:t>   4. [주파수 제어] 튜닝 필터 대역(lowFreq ~ highFreq) 내부의 성분에만 -gain을 곱함.</a:t>
            </a:r>
            <a:br/>
            <a:r>
              <a:t>   5. [합성 단계] 복소 스펙트럼에 대한 대칭 미러링(Mirroring)을 재구성하여 신호 왜곡 방지.</a:t>
            </a:r>
            <a:br/>
            <a:r>
              <a:t>   6. [복원 단계] 역 고속 푸리에 변환(IFFT)을 거쳐 시간 영역 반대파로 신호 복원.</a:t>
            </a:r>
            <a:br/>
            <a:r>
              <a:t>   7. [출력 단계] 스피커 아웃풋으로 상쇄 간섭음 방출.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실시간 통계 및 피드백 지표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   - 입력 및 출력 신호에 대한 RMS(Root Mean Square) 기반 에너지를 dB 스케일로 실시간 변환.</a:t>
            </a:r>
            <a:br/>
            <a:r>
              <a:t>   - 입력 신호 에너지와 잔여(소음+반대파) 신호 에너지 편차 분석을 통한 감쇄 저감량 측정.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정보</a:t>
            </a:r>
            <a:br/>
            <a:r>
              <a:t>코딩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5. 핵심 알고리즘 구현 코드 및 복소 대칭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● 주파수 영역 복소수 제어 및 미러링 대칭 맵핑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푸리에 스펙트럼에서 시간 신호로 IFFT 복원 시, 허수부가 사라지고 안정한 실수가 출력되기 위해선</a:t>
            </a:r>
            <a:br/>
            <a:r>
              <a:t>     켤레 복소수(Conjugate Symmetric) 대칭 쌍이 정확히 쌍을 이뤄 존재해야 함.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핵심 제어 코드 분석 (파이썬 모듈 `engine.py` 발췌)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   - FFT 이후 인덱스 루프 돌며 타겟 대역에 게인 적용 및 반대편 인덱스(mirror = fft_size - k)에 대칭 주입:</a:t>
            </a:r>
          </a:p>
          <a:p>
            <a:pPr>
              <a:defRPr sz="1400" b="1">
                <a:solidFill>
                  <a:srgbClr val="277884"/>
                </a:solidFill>
                <a:latin typeface="Courier New"/>
              </a:defRPr>
            </a:pPr>
            <a:r>
              <a:t>     spectrum = compute_fft(windowed_in)</a:t>
            </a:r>
            <a:br/>
            <a:r>
              <a:t>     for k in range(fft_size // 2):</a:t>
            </a:r>
            <a:br/>
            <a:r>
              <a:t>         if low_bin &lt;= k &lt;= high_bin:</a:t>
            </a:r>
            <a:br/>
            <a:r>
              <a:t>             output_spectrum[k] = -spectrum[k] * anti_noise_gain</a:t>
            </a:r>
            <a:br/>
            <a:r>
              <a:t>             if k != 0:</a:t>
            </a:r>
            <a:br/>
            <a:r>
              <a:t>                 output_spectrum[fft_size - k] = -spectrum[fft_size - k] * anti_noise_gain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정보</a:t>
            </a:r>
            <a:br/>
            <a:r>
              <a:t>디자인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6. 사용자 TUI 대시보드 및 가상 오디오 런타임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● 텍스트 기반 대시보드(TUI) 설계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Textual 프레임워크와 Rich를 활용하여 터미널 내에서 구동되는 미려한 실시간 UI 화면 구성.</a:t>
            </a:r>
            <a:br/>
            <a:r>
              <a:t>   - 가로 폭에 최적화하여 512 버킷 주파수 크기를 유니코드 블록으로 실시간 출력.</a:t>
            </a:r>
            <a:br/>
            <a:r>
              <a:t>   - 설정 대역의 범위(lowFreq ~ highFreq)는 그래프 상에 밝은 초록/시안색으로 실시간 색상 강조.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가상 오디오 시뮬레이션 모드(Fallback)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   - 마이크/스피커 하드웨어 사용이 차단된 환경에서도 탐구가 가능하도록 가상 신호 엔진 내장.</a:t>
            </a:r>
            <a:br/>
            <a:r>
              <a:t>   - 440Hz 소음 사인파 및 랜덤 백색 노이즈를 내장 발생시켜 대역 차단 시뮬레이션 완벽 구동.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물리II</a:t>
            </a:r>
            <a:br/>
            <a:r>
              <a:t>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7. 실험 결과 분석 및 데이터 정량 관찰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645920"/>
          <a:ext cx="9601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실험 조건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제어 주파수 대역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안티 게인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입력 소음 (dB)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잔여 소음 (dB)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감쇄 효과 (dB)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저주파 대역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20 Hz ~ 280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-35.2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-51.5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77884"/>
                          </a:solidFill>
                        </a:defRPr>
                      </a:pPr>
                      <a:r>
                        <a:t>16.3 dB 감쇄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음성대역 필터링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250 Hz ~ 2500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-41.0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-50.2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77884"/>
                          </a:solidFill>
                        </a:defRPr>
                      </a:pPr>
                      <a:r>
                        <a:t>9.2 dB 감쇄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광대역 노이즈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50 Hz ~ 5000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-28.4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-34.1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77884"/>
                          </a:solidFill>
                        </a:defRPr>
                      </a:pPr>
                      <a:r>
                        <a:t>5.7 dB 감쇄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고게인 왜곡 실험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50 Hz ~ 1200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-35.0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-30.2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E4447"/>
                          </a:solidFill>
                        </a:defRPr>
                      </a:pPr>
                      <a:r>
                        <a:t>4.8 dB 증폭 (왜곡)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4114800"/>
            <a:ext cx="9601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7884"/>
                </a:solidFill>
              </a:defRPr>
            </a:pPr>
            <a:r>
              <a:rPr dirty="0"/>
              <a:t>● </a:t>
            </a: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실험</a:t>
            </a:r>
            <a:r>
              <a:rPr dirty="0"/>
              <a:t> </a:t>
            </a:r>
            <a:r>
              <a:rPr dirty="0" err="1"/>
              <a:t>결론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  <a:p>
            <a:pPr>
              <a:defRPr sz="1500">
                <a:solidFill>
                  <a:srgbClr val="1E293B"/>
                </a:solidFill>
              </a:defRPr>
            </a:pPr>
            <a:r>
              <a:rPr dirty="0"/>
              <a:t>   1. </a:t>
            </a:r>
            <a:r>
              <a:rPr dirty="0" err="1"/>
              <a:t>저역</a:t>
            </a:r>
            <a:r>
              <a:rPr dirty="0"/>
              <a:t> </a:t>
            </a:r>
            <a:r>
              <a:rPr dirty="0" err="1"/>
              <a:t>프리셋</a:t>
            </a:r>
            <a:r>
              <a:rPr dirty="0"/>
              <a:t>(20~280Hz)</a:t>
            </a:r>
            <a:r>
              <a:rPr dirty="0" err="1"/>
              <a:t>의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가청</a:t>
            </a:r>
            <a:r>
              <a:rPr dirty="0"/>
              <a:t> </a:t>
            </a:r>
            <a:r>
              <a:rPr dirty="0" err="1"/>
              <a:t>소음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중저음</a:t>
            </a:r>
            <a:r>
              <a:rPr dirty="0"/>
              <a:t> </a:t>
            </a:r>
            <a:r>
              <a:rPr dirty="0" err="1"/>
              <a:t>진동</a:t>
            </a:r>
            <a:r>
              <a:rPr dirty="0"/>
              <a:t> </a:t>
            </a:r>
            <a:r>
              <a:rPr dirty="0" err="1"/>
              <a:t>소음을</a:t>
            </a:r>
            <a:r>
              <a:rPr dirty="0"/>
              <a:t> </a:t>
            </a:r>
            <a:r>
              <a:rPr dirty="0" err="1"/>
              <a:t>효과적으로</a:t>
            </a:r>
            <a:r>
              <a:rPr dirty="0"/>
              <a:t> </a:t>
            </a:r>
            <a:r>
              <a:rPr dirty="0" err="1"/>
              <a:t>억제해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16.3dB </a:t>
            </a:r>
            <a:r>
              <a:rPr dirty="0" err="1"/>
              <a:t>감쇄에</a:t>
            </a:r>
            <a:r>
              <a:rPr dirty="0"/>
              <a:t> </a:t>
            </a:r>
            <a:r>
              <a:rPr dirty="0" err="1"/>
              <a:t>도달함</a:t>
            </a:r>
            <a:r>
              <a:rPr dirty="0"/>
              <a:t>.</a:t>
            </a:r>
            <a:br>
              <a:rPr dirty="0"/>
            </a:br>
            <a:r>
              <a:rPr dirty="0"/>
              <a:t>   2. </a:t>
            </a:r>
            <a:r>
              <a:rPr dirty="0" err="1"/>
              <a:t>게인을</a:t>
            </a:r>
            <a:r>
              <a:rPr dirty="0"/>
              <a:t> </a:t>
            </a:r>
            <a:r>
              <a:rPr dirty="0" err="1"/>
              <a:t>임계치</a:t>
            </a:r>
            <a:r>
              <a:rPr dirty="0"/>
              <a:t> </a:t>
            </a:r>
            <a:r>
              <a:rPr dirty="0" err="1"/>
              <a:t>이상</a:t>
            </a:r>
            <a:r>
              <a:rPr dirty="0"/>
              <a:t>(0.95 </a:t>
            </a:r>
            <a:r>
              <a:rPr dirty="0" err="1"/>
              <a:t>이상</a:t>
            </a:r>
            <a:r>
              <a:rPr dirty="0"/>
              <a:t>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과도하게</a:t>
            </a:r>
            <a:r>
              <a:rPr dirty="0"/>
              <a:t> </a:t>
            </a:r>
            <a:r>
              <a:rPr dirty="0" err="1"/>
              <a:t>증폭시킬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샘플</a:t>
            </a:r>
            <a:r>
              <a:rPr dirty="0"/>
              <a:t> </a:t>
            </a:r>
            <a:r>
              <a:rPr dirty="0" err="1"/>
              <a:t>한계를</a:t>
            </a:r>
            <a:r>
              <a:rPr dirty="0"/>
              <a:t> </a:t>
            </a:r>
            <a:r>
              <a:rPr dirty="0" err="1"/>
              <a:t>초과하는</a:t>
            </a:r>
            <a:r>
              <a:rPr dirty="0"/>
              <a:t> </a:t>
            </a:r>
            <a:r>
              <a:rPr dirty="0" err="1"/>
              <a:t>파열</a:t>
            </a:r>
            <a:r>
              <a:rPr dirty="0"/>
              <a:t> </a:t>
            </a:r>
            <a:r>
              <a:rPr dirty="0" err="1"/>
              <a:t>왜곡</a:t>
            </a:r>
            <a:r>
              <a:rPr dirty="0"/>
              <a:t>(Clipping)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인해</a:t>
            </a:r>
            <a:r>
              <a:rPr dirty="0"/>
              <a:t> </a:t>
            </a:r>
            <a:r>
              <a:rPr dirty="0" err="1"/>
              <a:t>잔여</a:t>
            </a:r>
            <a:r>
              <a:rPr dirty="0"/>
              <a:t> </a:t>
            </a:r>
            <a:r>
              <a:rPr dirty="0" err="1"/>
              <a:t>레벨</a:t>
            </a:r>
            <a:r>
              <a:rPr dirty="0"/>
              <a:t> </a:t>
            </a:r>
            <a:r>
              <a:rPr dirty="0" err="1"/>
              <a:t>소음이</a:t>
            </a:r>
            <a:r>
              <a:rPr dirty="0"/>
              <a:t> </a:t>
            </a:r>
            <a:r>
              <a:rPr dirty="0" err="1"/>
              <a:t>역으로</a:t>
            </a:r>
            <a:r>
              <a:rPr dirty="0"/>
              <a:t> 4.8dB </a:t>
            </a:r>
            <a:r>
              <a:rPr dirty="0" err="1"/>
              <a:t>증폭되는</a:t>
            </a:r>
            <a:r>
              <a:rPr dirty="0"/>
              <a:t> </a:t>
            </a:r>
            <a:r>
              <a:rPr dirty="0" err="1"/>
              <a:t>역효과</a:t>
            </a:r>
            <a:r>
              <a:rPr dirty="0"/>
              <a:t>(Feedback Loop </a:t>
            </a:r>
            <a:r>
              <a:rPr dirty="0" err="1"/>
              <a:t>오작동</a:t>
            </a:r>
            <a:r>
              <a:rPr dirty="0"/>
              <a:t>) </a:t>
            </a:r>
            <a:r>
              <a:rPr dirty="0" err="1"/>
              <a:t>현상</a:t>
            </a:r>
            <a:r>
              <a:rPr dirty="0"/>
              <a:t> </a:t>
            </a:r>
            <a:r>
              <a:rPr dirty="0" err="1"/>
              <a:t>규명</a:t>
            </a:r>
            <a:r>
              <a:rPr dirty="0"/>
              <a:t>.</a:t>
            </a:r>
            <a:endParaRPr lang="en-US" dirty="0"/>
          </a:p>
          <a:p>
            <a:pPr>
              <a:defRPr sz="1500">
                <a:solidFill>
                  <a:srgbClr val="1E293B"/>
                </a:solidFill>
              </a:defRPr>
            </a:pPr>
            <a:endParaRPr lang="en-US" sz="1500" dirty="0">
              <a:solidFill>
                <a:srgbClr val="1E293B"/>
              </a:solidFill>
            </a:endParaRPr>
          </a:p>
          <a:p>
            <a:pPr>
              <a:defRPr sz="1500">
                <a:solidFill>
                  <a:srgbClr val="1E293B"/>
                </a:solidFill>
              </a:defRPr>
            </a:pPr>
            <a:r>
              <a:rPr lang="ko-KR" altLang="en-US" sz="1500" dirty="0">
                <a:solidFill>
                  <a:srgbClr val="1E293B"/>
                </a:solidFill>
              </a:rPr>
              <a:t>   </a:t>
            </a:r>
            <a:r>
              <a:rPr lang="en-US" altLang="ko-KR" sz="1500" dirty="0">
                <a:solidFill>
                  <a:srgbClr val="1E293B"/>
                </a:solidFill>
              </a:rPr>
              <a:t>3.</a:t>
            </a:r>
            <a:r>
              <a:rPr lang="ko-KR" altLang="en-US" sz="1500" dirty="0">
                <a:solidFill>
                  <a:srgbClr val="1E293B"/>
                </a:solidFill>
              </a:rPr>
              <a:t> 그러나 </a:t>
            </a:r>
            <a:r>
              <a:rPr lang="ko-KR" altLang="en-US" sz="1500" dirty="0" err="1">
                <a:solidFill>
                  <a:srgbClr val="1E293B"/>
                </a:solidFill>
              </a:rPr>
              <a:t>노리즈</a:t>
            </a:r>
            <a:r>
              <a:rPr lang="ko-KR" altLang="en-US" sz="1500" dirty="0">
                <a:solidFill>
                  <a:srgbClr val="1E293B"/>
                </a:solidFill>
              </a:rPr>
              <a:t> </a:t>
            </a:r>
            <a:r>
              <a:rPr lang="ko-KR" altLang="en-US" sz="1500" dirty="0" err="1">
                <a:solidFill>
                  <a:srgbClr val="1E293B"/>
                </a:solidFill>
              </a:rPr>
              <a:t>캔슬링</a:t>
            </a:r>
            <a:r>
              <a:rPr lang="ko-KR" altLang="en-US" sz="1500" dirty="0">
                <a:solidFill>
                  <a:srgbClr val="1E293B"/>
                </a:solidFill>
              </a:rPr>
              <a:t> 이어폰</a:t>
            </a:r>
            <a:r>
              <a:rPr lang="en-US" altLang="ko-KR" sz="1500" dirty="0">
                <a:solidFill>
                  <a:srgbClr val="1E293B"/>
                </a:solidFill>
              </a:rPr>
              <a:t>,</a:t>
            </a:r>
            <a:r>
              <a:rPr lang="ko-KR" altLang="en-US" sz="1500" dirty="0">
                <a:solidFill>
                  <a:srgbClr val="1E293B"/>
                </a:solidFill>
              </a:rPr>
              <a:t> 헤드폰과 같이 주변 소음을 </a:t>
            </a:r>
            <a:r>
              <a:rPr lang="en-US" altLang="ko-KR" sz="1500" dirty="0">
                <a:solidFill>
                  <a:srgbClr val="1E293B"/>
                </a:solidFill>
              </a:rPr>
              <a:t>100%</a:t>
            </a:r>
            <a:r>
              <a:rPr lang="ko-KR" altLang="en-US" sz="1500" dirty="0">
                <a:solidFill>
                  <a:srgbClr val="1E293B"/>
                </a:solidFill>
              </a:rPr>
              <a:t> 가깝게 없애지 못한 한계가 발생 함</a:t>
            </a:r>
            <a:endParaRPr sz="150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77884"/>
          </a:solidFill>
          <a:ln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731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0"/>
            <a:ext cx="1146017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8. 탐구 결론 및 향후 발전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886968"/>
            <a:ext cx="11460175" cy="27432"/>
          </a:xfrm>
          <a:prstGeom prst="rect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● 탐구 성과 및 물리적 의의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파동의 중첩과 삼각함수 물리 공식의 소프트웨어적 알고리즘(FFT-IFFT) 설계를 통한 작동 모델 입증.</a:t>
            </a:r>
            <a:br/>
            <a:r>
              <a:t>   - 주파수 한계 설계 및 오작동 제어 영역을 밝혀 상용 ANC 기기의 대역 경계 제어 필터링 메커니즘을 심화 이해함.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물리 공간의 오차 한계 원인 규명</a:t>
            </a:r>
          </a:p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</a:defRPr>
            </a:pPr>
            <a:r>
              <a:t>   - [연산 지연] 디지털 FFT 연산 소요 시간으로 인한 시차 위상 오차 발생.</a:t>
            </a:r>
            <a:br/>
            <a:r>
              <a:t>   - [공간 반사] 소리가 마이크로폰에서 스피커로 나갈 때까지 공기 매질 내 반사파 등으로 인해 이론 수치 대비 간섭 상쇄도 감쇠.</a:t>
            </a:r>
          </a:p>
          <a:p>
            <a:pPr>
              <a:defRPr sz="2000" b="1">
                <a:solidFill>
                  <a:srgbClr val="277884"/>
                </a:solidFill>
              </a:defRPr>
            </a:pPr>
            <a:r>
              <a:t>● 향후 확장 탐구 과제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   - 실시간 오차 에너지를 모니터링하여 가변 가중치로 최적의 억제 게인을 연속 갱신해나가는 적응형 필터인 LMS(Least Mean Squares) 알고리즘을 도입하여 2단계 시스템 구현 계획.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1425</Words>
  <Application>Microsoft Macintosh PowerPoint</Application>
  <PresentationFormat>와이드스크린</PresentationFormat>
  <Paragraphs>90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MISUN KIM</cp:lastModifiedBy>
  <cp:revision>2</cp:revision>
  <dcterms:created xsi:type="dcterms:W3CDTF">2013-01-27T09:14:16Z</dcterms:created>
  <dcterms:modified xsi:type="dcterms:W3CDTF">2026-05-30T13:19:05Z</dcterms:modified>
  <cp:category/>
</cp:coreProperties>
</file>